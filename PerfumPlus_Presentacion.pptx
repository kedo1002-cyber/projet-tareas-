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mensual por usuario (USD)</c:v>
                </c:pt>
              </c:strCache>
            </c:strRef>
          </c:tx>
          <c:spPr>
            <a:solidFill>
              <a:srgbClr val="4440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AF9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40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94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8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8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38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WhatsApp
(informal)</c:v>
                  </c:pt>
                  <c:pt idx="1">
                    <c:v>Perfum Plus</c:v>
                  </c:pt>
                  <c:pt idx="2">
                    <c:v>Trello</c:v>
                  </c:pt>
                  <c:pt idx="3">
                    <c:v>Asana</c:v>
                  </c:pt>
                  <c:pt idx="4">
                    <c:v>Monday.com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AF9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1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9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1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5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C1B18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161510"/>
          </a:solidFill>
          <a:ln w="12700">
            <a:solidFill>
              <a:srgbClr val="2C29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3474720"/>
            <a:ext cx="2926080" cy="2926080"/>
          </a:xfrm>
          <a:prstGeom prst="ellipse">
            <a:avLst/>
          </a:prstGeom>
          <a:solidFill>
            <a:srgbClr val="181714"/>
          </a:solidFill>
          <a:ln w="6350">
            <a:solidFill>
              <a:srgbClr val="B8943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716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400" kern="0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PERFUM PLUS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D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Tareas y Desempeño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3127248"/>
            <a:ext cx="6858000" cy="0"/>
          </a:xfrm>
          <a:prstGeom prst="line">
            <a:avLst/>
          </a:prstGeom>
          <a:noFill/>
          <a:ln w="12700">
            <a:solidFill>
              <a:srgbClr val="B8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735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negocios que quieren crecer con datos, no con suposiciones.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0" y="2560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Tech · MinTIC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114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E. Obando Santander  ·  Cohorte 1  ·  Presencial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gestionan su equipo la mayoría de los negocios hoy?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566160" cy="42062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35661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20240"/>
            <a:ext cx="1005840" cy="384048"/>
          </a:xfrm>
          <a:prstGeom prst="rect">
            <a:avLst/>
          </a:prstGeom>
          <a:solidFill>
            <a:srgbClr val="3A1010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negocios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WhatsApp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dar tareas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· Sin responsabilidad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3566160" cy="42062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691640"/>
            <a:ext cx="35661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4453128" y="1920240"/>
            <a:ext cx="1005840" cy="384048"/>
          </a:xfrm>
          <a:prstGeom prst="rect">
            <a:avLst/>
          </a:prstGeom>
          <a:solidFill>
            <a:srgbClr val="3A1010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5146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1.5h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4434840" y="3703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pierden sus equipos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 por falta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organizacion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productivo desperdiciado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66160" cy="42062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691640"/>
            <a:ext cx="35661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8339328" y="1920240"/>
            <a:ext cx="1005840" cy="384048"/>
          </a:xfrm>
          <a:prstGeom prst="rect">
            <a:avLst/>
          </a:prstGeom>
          <a:solidFill>
            <a:srgbClr val="3A1010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0" y="25146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8321040" y="3703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acceso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datos historicos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desempeno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4800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metricas · Sin mejora continua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DANE (2024), McKinsey Productivity Report, Asana State of Work Index.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plataforma diseñada exactamente para ti.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23360" y="1645920"/>
            <a:ext cx="4114800" cy="3840480"/>
          </a:xfrm>
          <a:prstGeom prst="rect">
            <a:avLst/>
          </a:prstGeom>
          <a:solidFill>
            <a:srgbClr val="1C1B18"/>
          </a:solidFill>
          <a:ln w="12700">
            <a:solidFill>
              <a:srgbClr val="B8943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0" y="1645920"/>
            <a:ext cx="4114800" cy="73152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PERFUM PLUS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6052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· Sin instalación · Sin costo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desde cualquier dispositivo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3401568"/>
            <a:ext cx="3017520" cy="0"/>
          </a:xfrm>
          <a:prstGeom prst="line">
            <a:avLst/>
          </a:prstGeom>
          <a:noFill/>
          <a:ln w="6350">
            <a:solidFill>
              <a:srgbClr val="B8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D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analítico en tiempo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3904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Asignación de tareas por roles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4288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Evaluación de turno con semáforo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46725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Motor de retos motivacionales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5056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Chatbot de IA integrado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645920"/>
            <a:ext cx="3474720" cy="3840480"/>
          </a:xfrm>
          <a:prstGeom prst="rect">
            <a:avLst/>
          </a:prstGeom>
          <a:solidFill>
            <a:srgbClr val="24232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645920"/>
            <a:ext cx="3474720" cy="73152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19202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B8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920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CEO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2542032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tareas diarias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2962656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077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progreso en tiempo real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3284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turnos del equipo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803904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49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rendimiento histórico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224528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169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solicitudes del equipo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645152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590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plantillas y retos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21040" y="1645920"/>
            <a:ext cx="3474720" cy="3840480"/>
          </a:xfrm>
          <a:prstGeom prst="rect">
            <a:avLst/>
          </a:prstGeom>
          <a:solidFill>
            <a:srgbClr val="24232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21040" y="1645920"/>
            <a:ext cx="3474720" cy="73152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4" name="Shape 32"/>
          <p:cNvSpPr/>
          <p:nvPr/>
        </p:nvSpPr>
        <p:spPr>
          <a:xfrm>
            <a:off x="8503920" y="19202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B8943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1920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 COLABORADOR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58200" y="2542032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tareas asignadas del día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58200" y="2962656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40" name="Text 38"/>
          <p:cNvSpPr/>
          <p:nvPr/>
        </p:nvSpPr>
        <p:spPr>
          <a:xfrm>
            <a:off x="8641080" y="29077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progreso por tarea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58200" y="3383280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33284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notas de seguimiento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458200" y="3803904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44" name="Text 42"/>
          <p:cNvSpPr/>
          <p:nvPr/>
        </p:nvSpPr>
        <p:spPr>
          <a:xfrm>
            <a:off x="8641080" y="3749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retos motivacionales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458200" y="4224528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46" name="Text 44"/>
          <p:cNvSpPr/>
          <p:nvPr/>
        </p:nvSpPr>
        <p:spPr>
          <a:xfrm>
            <a:off x="8641080" y="4169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al chatbot de IA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458200" y="4645152"/>
            <a:ext cx="109728" cy="109728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48" name="Text 46"/>
          <p:cNvSpPr/>
          <p:nvPr/>
        </p:nvSpPr>
        <p:spPr>
          <a:xfrm>
            <a:off x="8641080" y="4590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su historial semanal/mensual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pasos. Simple. Poderoso.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3611880"/>
            <a:ext cx="8869680" cy="0"/>
          </a:xfrm>
          <a:prstGeom prst="line">
            <a:avLst/>
          </a:prstGeom>
          <a:noFill/>
          <a:ln w="25400">
            <a:solidFill>
              <a:srgbClr val="2423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2651760" cy="44348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3246120"/>
            <a:ext cx="731520" cy="73152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502920" cy="54864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CEO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asigna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tareas base, personalizadas o aplica plantillas. Programa retos motivacionales para el equipo.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737360"/>
            <a:ext cx="2651760" cy="44348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3246120"/>
            <a:ext cx="731520" cy="73152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1901952"/>
            <a:ext cx="502920" cy="54864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equipo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29000" y="41148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colaborador marca el progreso de sus tareas en tiempo real desde cualquier dispositivo.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651760" cy="44348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3246120"/>
            <a:ext cx="731520" cy="73152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1901952"/>
            <a:ext cx="502920" cy="54864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CEO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evalúa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55080" y="41148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el turno con el semáforo de desempeño y deja retroalimentación escrita al colaborador.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0" y="1737360"/>
            <a:ext cx="2651760" cy="44348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04120" y="3246120"/>
            <a:ext cx="731520" cy="73152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10412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0C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326880" y="1901952"/>
            <a:ext cx="502920" cy="54864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81160" y="41148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genera reportes históricos, KPIs y tendencias de rendimiento por colaborador y período.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lo que necesita tu negocio, en un solo lugar.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657600" cy="21031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365760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764792"/>
            <a:ext cx="685800" cy="475488"/>
          </a:xfrm>
          <a:prstGeom prst="roundRect">
            <a:avLst>
              <a:gd name="adj" fmla="val 11538"/>
            </a:avLst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64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Analítico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8986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gráficas de tendencia, consistencia del equipo y reportes históricos semanales y mensuales.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657600" cy="21031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600200"/>
            <a:ext cx="365760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2272" y="1764792"/>
            <a:ext cx="685800" cy="475488"/>
          </a:xfrm>
          <a:prstGeom prst="roundRect">
            <a:avLst>
              <a:gd name="adj" fmla="val 11538"/>
            </a:avLst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764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Retos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28986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diarios automáticos adaptados al rendimiento de cada colaborador y al calendario comercial.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3657600" cy="21031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600200"/>
            <a:ext cx="365760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1764792"/>
            <a:ext cx="685800" cy="475488"/>
          </a:xfrm>
          <a:prstGeom prst="roundRect">
            <a:avLst>
              <a:gd name="adj" fmla="val 11538"/>
            </a:avLst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764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Asignación Inteligente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8986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Auto-asignación según rendimiento, copia de tareas de días anteriores y plantillas reutilizables.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3657600" cy="21031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931920"/>
            <a:ext cx="365760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" y="4096512"/>
            <a:ext cx="685800" cy="475488"/>
          </a:xfrm>
          <a:prstGeom prst="roundRect">
            <a:avLst>
              <a:gd name="adj" fmla="val 11538"/>
            </a:avLst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709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523036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virtual que orienta al colaborador sobre sus tareas, progreso y estrategias de mejora.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3931920"/>
            <a:ext cx="3657600" cy="21031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0" y="3931920"/>
            <a:ext cx="365760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1" name="Shape 29"/>
          <p:cNvSpPr/>
          <p:nvPr/>
        </p:nvSpPr>
        <p:spPr>
          <a:xfrm>
            <a:off x="4462272" y="4096512"/>
            <a:ext cx="685800" cy="475488"/>
          </a:xfrm>
          <a:prstGeom prst="roundRect">
            <a:avLst>
              <a:gd name="adj" fmla="val 11538"/>
            </a:avLst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34840" y="4709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de Turno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34840" y="523036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semáforo (verde/amarillo/rojo) con retroalimentación escrita del CEO al equipo.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0" y="3931920"/>
            <a:ext cx="3657600" cy="21031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3931920"/>
            <a:ext cx="365760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7" name="Shape 35"/>
          <p:cNvSpPr/>
          <p:nvPr/>
        </p:nvSpPr>
        <p:spPr>
          <a:xfrm>
            <a:off x="8394192" y="4096512"/>
            <a:ext cx="685800" cy="475488"/>
          </a:xfrm>
          <a:prstGeom prst="roundRect">
            <a:avLst>
              <a:gd name="adj" fmla="val 11538"/>
            </a:avLst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66760" y="4709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de Solicitudes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66760" y="523036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colaboradores reportan necesidades al CEO, quien gestiona un backlog priorizado de respuestas.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QUE HABLAN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 explican por qué cambiar.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0876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760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mensual por usuario (USD)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508760"/>
            <a:ext cx="5806440" cy="105156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26480" y="15544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+ 27%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183880" y="1673352"/>
            <a:ext cx="0" cy="640080"/>
          </a:xfrm>
          <a:prstGeom prst="line">
            <a:avLst/>
          </a:prstGeom>
          <a:noFill/>
          <a:ln w="19050">
            <a:solidFill>
              <a:srgbClr val="2423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1563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productividad con gestión formal de tareas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21040" y="2221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McKinsey, 2023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2697480"/>
            <a:ext cx="5806440" cy="105156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274320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800" dirty="0"/>
          </a:p>
        </p:txBody>
      </p:sp>
      <p:sp>
        <p:nvSpPr>
          <p:cNvPr id="14" name="Shape 11"/>
          <p:cNvSpPr/>
          <p:nvPr/>
        </p:nvSpPr>
        <p:spPr>
          <a:xfrm>
            <a:off x="8183880" y="2862072"/>
            <a:ext cx="0" cy="640080"/>
          </a:xfrm>
          <a:prstGeom prst="line">
            <a:avLst/>
          </a:prstGeom>
          <a:noFill/>
          <a:ln w="19050">
            <a:solidFill>
              <a:srgbClr val="2423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27523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empleados rinden mejor con instrucciones claras y escritas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21040" y="3410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State of Work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886200"/>
            <a:ext cx="5806440" cy="105156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39319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3.6×</a:t>
            </a:r>
            <a:endParaRPr lang="en-US" sz="3800" dirty="0"/>
          </a:p>
        </p:txBody>
      </p:sp>
      <p:sp>
        <p:nvSpPr>
          <p:cNvPr id="19" name="Shape 16"/>
          <p:cNvSpPr/>
          <p:nvPr/>
        </p:nvSpPr>
        <p:spPr>
          <a:xfrm>
            <a:off x="8183880" y="4050792"/>
            <a:ext cx="0" cy="640080"/>
          </a:xfrm>
          <a:prstGeom prst="line">
            <a:avLst/>
          </a:prstGeom>
          <a:noFill/>
          <a:ln w="19050">
            <a:solidFill>
              <a:srgbClr val="2423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3941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retención de talento en equipos con retroalimentación regular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21040" y="4599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Workplace, 2024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5074920"/>
            <a:ext cx="5806440" cy="1051560"/>
          </a:xfrm>
          <a:prstGeom prst="rect">
            <a:avLst/>
          </a:prstGeom>
          <a:solidFill>
            <a:srgbClr val="1C1B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89320" y="5074920"/>
            <a:ext cx="580644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512064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800" dirty="0"/>
          </a:p>
        </p:txBody>
      </p:sp>
      <p:sp>
        <p:nvSpPr>
          <p:cNvPr id="25" name="Shape 22"/>
          <p:cNvSpPr/>
          <p:nvPr/>
        </p:nvSpPr>
        <p:spPr>
          <a:xfrm>
            <a:off x="8183880" y="5239512"/>
            <a:ext cx="0" cy="640080"/>
          </a:xfrm>
          <a:prstGeom prst="line">
            <a:avLst/>
          </a:prstGeom>
          <a:noFill/>
          <a:ln w="19050">
            <a:solidFill>
              <a:srgbClr val="2423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0" y="51297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licencia de Perfum Plus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321040" y="5788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$9-$25/usuario/mes de la competencia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Perfum Plus es la mejor opción?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572768"/>
          <a:ext cx="101498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  <a:gridCol w="1737360"/>
                <a:gridCol w="1737360"/>
                <a:gridCol w="21031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AF9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AF9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AF9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AF9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C0C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PERFUM PLUS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4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(sin valor)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$5-$17/usuario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$11-$25/usuario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· Gratis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de tareas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básico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+ plantillas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 progreso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básico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tiempo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de desempeño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semáforo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histórico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pagado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incluido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retos / motivación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inteligente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de IA integrado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· personalizado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 requerida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B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· Navegador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 / región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DF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D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Español · Colombia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9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B1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Perfum Plus es la única solución diseñada específicamente para el comercio de perfumería con IA integrada.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NICHOS DE 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Cualquier negocio con equipo de trabajo es un cliente potencial.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190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&amp; Tiendas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Perfumería, ropa, calzado, accesorios, joyería.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002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190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02352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Gastronomía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02352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Restaurantes, cafés, heladerías, catering.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6002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17190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4272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Salud &amp; Belleza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34272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Spas, peluquerías, centros estéticos, nail bars.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192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9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Deporte &amp; Bienestar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70432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Gimnasios, centros de yoga, academias.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2004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3192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319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Hospitalidad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02352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 boutique, hostales, posadas, B&amp;Bs.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2004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33192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3319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34272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Pymes &amp; Oficinas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34272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Agencias, consultoras, servicios profesionales.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8006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9194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919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70432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Educación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70432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Academias, centros de tutorías, escuelas privadas.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97680" y="48006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434840" y="49194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4919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02352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Automotriz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102352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Talleres, concesionarios, lavaderos de autos.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29600" y="4800600"/>
            <a:ext cx="3657600" cy="14173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66760" y="4919472"/>
            <a:ext cx="530352" cy="530352"/>
          </a:xfrm>
          <a:prstGeom prst="ellipse">
            <a:avLst/>
          </a:prstGeom>
          <a:solidFill>
            <a:srgbClr val="2A2518"/>
          </a:solidFill>
          <a:ln w="12700">
            <a:solidFill>
              <a:srgbClr val="B894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66760" y="4919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034272" y="4892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Construcción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034272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Contratistas, inmobiliarias, proyectos de obra.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 hasta 200+ empleados · Escalable · Personalizable para cada industria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FUTUROS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visión de crecimiento de Perfum Plus.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2578608"/>
            <a:ext cx="10561320" cy="0"/>
          </a:xfrm>
          <a:prstGeom prst="line">
            <a:avLst/>
          </a:prstGeom>
          <a:noFill/>
          <a:ln w="19050">
            <a:solidFill>
              <a:srgbClr val="B89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2359152"/>
            <a:ext cx="438912" cy="438912"/>
          </a:xfrm>
          <a:prstGeom prst="ellipse">
            <a:avLst/>
          </a:prstGeom>
          <a:solidFill>
            <a:srgbClr val="B8943A"/>
          </a:solidFill>
          <a:ln w="19050">
            <a:solidFill>
              <a:srgbClr val="B8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0C0B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  ·  HOY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944368"/>
            <a:ext cx="2560320" cy="3474720"/>
          </a:xfrm>
          <a:prstGeom prst="rect">
            <a:avLst/>
          </a:prstGeom>
          <a:solidFill>
            <a:srgbClr val="1C1B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944368"/>
            <a:ext cx="256032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090672"/>
            <a:ext cx="685800" cy="384048"/>
          </a:xfrm>
          <a:prstGeom prst="rect">
            <a:avLst/>
          </a:prstGeom>
          <a:solidFill>
            <a:srgbClr val="2A2518"/>
          </a:solidFill>
          <a:ln w="10160">
            <a:solidFill>
              <a:srgbClr val="B8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90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D2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 Base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91440" cy="9144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1879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· SPA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54296"/>
            <a:ext cx="91440" cy="9144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5902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colaboradores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056632"/>
            <a:ext cx="91440" cy="9144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9926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 diarias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58968"/>
            <a:ext cx="91440" cy="9144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394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861304"/>
            <a:ext cx="91440" cy="91440"/>
          </a:xfrm>
          <a:prstGeom prst="ellipse">
            <a:avLst/>
          </a:prstGeom>
          <a:solidFill>
            <a:srgbClr val="B8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básico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1688" y="2359152"/>
            <a:ext cx="438912" cy="438912"/>
          </a:xfrm>
          <a:prstGeom prst="ellipse">
            <a:avLst/>
          </a:prstGeom>
          <a:solidFill>
            <a:srgbClr val="242320"/>
          </a:solidFill>
          <a:ln w="19050">
            <a:solidFill>
              <a:srgbClr val="B894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664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2.0  ·  2026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2944368"/>
            <a:ext cx="2560320" cy="34747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20440" y="3090672"/>
            <a:ext cx="685800" cy="384048"/>
          </a:xfrm>
          <a:prstGeom prst="rect">
            <a:avLst/>
          </a:prstGeom>
          <a:solidFill>
            <a:srgbClr val="1A1910"/>
          </a:solidFill>
          <a:ln w="10160">
            <a:solidFill>
              <a:srgbClr val="7A71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090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20440" y="35844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Móvil Nativa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520440" y="4251960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31" name="Text 29"/>
          <p:cNvSpPr/>
          <p:nvPr/>
        </p:nvSpPr>
        <p:spPr>
          <a:xfrm>
            <a:off x="3685032" y="41879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y Android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20440" y="4654296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33" name="Text 31"/>
          <p:cNvSpPr/>
          <p:nvPr/>
        </p:nvSpPr>
        <p:spPr>
          <a:xfrm>
            <a:off x="3685032" y="45902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520440" y="5056632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35" name="Text 33"/>
          <p:cNvSpPr/>
          <p:nvPr/>
        </p:nvSpPr>
        <p:spPr>
          <a:xfrm>
            <a:off x="3685032" y="49926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20440" y="5458968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37" name="Text 35"/>
          <p:cNvSpPr/>
          <p:nvPr/>
        </p:nvSpPr>
        <p:spPr>
          <a:xfrm>
            <a:off x="3685032" y="5394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 usuarios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20440" y="5861304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39" name="Text 37"/>
          <p:cNvSpPr/>
          <p:nvPr/>
        </p:nvSpPr>
        <p:spPr>
          <a:xfrm>
            <a:off x="3685032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Multi-sucursal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42048" y="2359152"/>
            <a:ext cx="438912" cy="438912"/>
          </a:xfrm>
          <a:prstGeom prst="ellipse">
            <a:avLst/>
          </a:prstGeom>
          <a:solidFill>
            <a:srgbClr val="242320"/>
          </a:solidFill>
          <a:ln w="19050">
            <a:solidFill>
              <a:srgbClr val="B894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664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3.0  ·  2027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2944368"/>
            <a:ext cx="2560320" cy="34747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3090672"/>
            <a:ext cx="685800" cy="384048"/>
          </a:xfrm>
          <a:prstGeom prst="rect">
            <a:avLst/>
          </a:prstGeom>
          <a:solidFill>
            <a:srgbClr val="1A1910"/>
          </a:solidFill>
          <a:ln w="10160">
            <a:solidFill>
              <a:srgbClr val="7A71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090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0" y="35844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SaaS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00800" y="4251960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47" name="Text 45"/>
          <p:cNvSpPr/>
          <p:nvPr/>
        </p:nvSpPr>
        <p:spPr>
          <a:xfrm>
            <a:off x="6565392" y="41879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la nube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4654296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49" name="Text 47"/>
          <p:cNvSpPr/>
          <p:nvPr/>
        </p:nvSpPr>
        <p:spPr>
          <a:xfrm>
            <a:off x="6565392" y="45902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suscripción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0" y="5056632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51" name="Text 49"/>
          <p:cNvSpPr/>
          <p:nvPr/>
        </p:nvSpPr>
        <p:spPr>
          <a:xfrm>
            <a:off x="6565392" y="49926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para integraciones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0" y="5458968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53" name="Text 51"/>
          <p:cNvSpPr/>
          <p:nvPr/>
        </p:nvSpPr>
        <p:spPr>
          <a:xfrm>
            <a:off x="6565392" y="5394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multi-empresa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0800" y="5861304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55" name="Text 53"/>
          <p:cNvSpPr/>
          <p:nvPr/>
        </p:nvSpPr>
        <p:spPr>
          <a:xfrm>
            <a:off x="6565392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PDF/Excel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122408" y="2359152"/>
            <a:ext cx="438912" cy="438912"/>
          </a:xfrm>
          <a:prstGeom prst="ellipse">
            <a:avLst/>
          </a:prstGeom>
          <a:solidFill>
            <a:srgbClr val="242320"/>
          </a:solidFill>
          <a:ln w="19050">
            <a:solidFill>
              <a:srgbClr val="B894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0" y="1664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4.0  ·  2028+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144000" y="2944368"/>
            <a:ext cx="2560320" cy="347472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281160" y="3090672"/>
            <a:ext cx="685800" cy="384048"/>
          </a:xfrm>
          <a:prstGeom prst="rect">
            <a:avLst/>
          </a:prstGeom>
          <a:solidFill>
            <a:srgbClr val="1A1910"/>
          </a:solidFill>
          <a:ln w="10160">
            <a:solidFill>
              <a:srgbClr val="7A716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81160" y="30906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281160" y="35844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F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Expansión Regional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281160" y="4251960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63" name="Text 61"/>
          <p:cNvSpPr/>
          <p:nvPr/>
        </p:nvSpPr>
        <p:spPr>
          <a:xfrm>
            <a:off x="9445752" y="41879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México, Perú, Chile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281160" y="4654296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65" name="Text 63"/>
          <p:cNvSpPr/>
          <p:nvPr/>
        </p:nvSpPr>
        <p:spPr>
          <a:xfrm>
            <a:off x="9445752" y="45902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IA avanzado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281160" y="5056632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67" name="Text 65"/>
          <p:cNvSpPr/>
          <p:nvPr/>
        </p:nvSpPr>
        <p:spPr>
          <a:xfrm>
            <a:off x="9445752" y="49926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(Shopify, etc.)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281160" y="5458968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69" name="Text 67"/>
          <p:cNvSpPr/>
          <p:nvPr/>
        </p:nvSpPr>
        <p:spPr>
          <a:xfrm>
            <a:off x="9445752" y="5394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plugins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281160" y="5861304"/>
            <a:ext cx="91440" cy="91440"/>
          </a:xfrm>
          <a:prstGeom prst="ellipse">
            <a:avLst/>
          </a:prstGeom>
          <a:solidFill>
            <a:srgbClr val="7A7168"/>
          </a:solidFill>
          <a:ln/>
        </p:spPr>
      </p:sp>
      <p:sp>
        <p:nvSpPr>
          <p:cNvPr id="71" name="Text 69"/>
          <p:cNvSpPr/>
          <p:nvPr/>
        </p:nvSpPr>
        <p:spPr>
          <a:xfrm>
            <a:off x="9445752" y="5797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por industria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EN TU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cambia cuando implementas Perfum Plus?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97480" cy="1737360"/>
          </a:xfrm>
          <a:prstGeom prst="rect">
            <a:avLst/>
          </a:prstGeom>
          <a:solidFill>
            <a:srgbClr val="1C1B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9748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97480" cy="1737360"/>
          </a:xfrm>
          <a:prstGeom prst="rect">
            <a:avLst/>
          </a:prstGeom>
          <a:solidFill>
            <a:srgbClr val="1C1B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00200"/>
            <a:ext cx="269748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-40%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2900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confusión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2697480" cy="1737360"/>
          </a:xfrm>
          <a:prstGeom prst="rect">
            <a:avLst/>
          </a:prstGeom>
          <a:solidFill>
            <a:srgbClr val="1C1B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00200"/>
            <a:ext cx="269748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3.6×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35508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talento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1600200"/>
            <a:ext cx="2697480" cy="1737360"/>
          </a:xfrm>
          <a:prstGeom prst="rect">
            <a:avLst/>
          </a:prstGeom>
          <a:solidFill>
            <a:srgbClr val="1C1B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1600200"/>
            <a:ext cx="2697480" cy="64008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17373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9281160" y="278892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tareas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5532120" cy="2834640"/>
          </a:xfrm>
          <a:prstGeom prst="rect">
            <a:avLst/>
          </a:prstGeom>
          <a:solidFill>
            <a:srgbClr val="1C1B18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20440"/>
            <a:ext cx="553212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57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Perfum Plus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42062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Tareas por WhatsApp sin confirmación de lectura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46360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Sin historial de lo que se hizo cada día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506577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Sin forma objetiva de evaluar el desempeño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" y="54955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Reuniones largas para saber el estado del equipo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26480" y="3520440"/>
            <a:ext cx="5669280" cy="2834640"/>
          </a:xfrm>
          <a:prstGeom prst="rect">
            <a:avLst/>
          </a:prstGeom>
          <a:solidFill>
            <a:srgbClr val="141510"/>
          </a:solidFill>
          <a:ln w="6350">
            <a:solidFill>
              <a:srgbClr val="2A292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520440"/>
            <a:ext cx="566928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657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Perfum Plus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63640" y="4206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Tareas asignadas con prioridad y seguimiento en tiempo real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26364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Historial de 60 días con gráficas y tendencias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63640" y="50657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Evaluación justa, objetiva y documentada por turno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63640" y="5495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Dashboard listo en 30 segundos desde cualquier lugar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2286000"/>
            <a:ext cx="8229600" cy="8229600"/>
          </a:xfrm>
          <a:prstGeom prst="ellipse">
            <a:avLst/>
          </a:prstGeom>
          <a:solidFill>
            <a:srgbClr val="0E0D0A"/>
          </a:solidFill>
          <a:ln w="19050">
            <a:solidFill>
              <a:srgbClr val="1A19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6400800" cy="6400800"/>
          </a:xfrm>
          <a:prstGeom prst="ellipse">
            <a:avLst/>
          </a:prstGeom>
          <a:solidFill>
            <a:srgbClr val="0E0D0A"/>
          </a:solidFill>
          <a:ln w="19050">
            <a:solidFill>
              <a:srgbClr val="1A19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657600"/>
            <a:ext cx="3657600" cy="3657600"/>
          </a:xfrm>
          <a:prstGeom prst="ellipse">
            <a:avLst/>
          </a:prstGeom>
          <a:solidFill>
            <a:srgbClr val="111008"/>
          </a:solidFill>
          <a:ln w="12700">
            <a:solidFill>
              <a:srgbClr val="1E1C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0" y="0"/>
            <a:ext cx="91440" cy="685800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B8943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" y="1325880"/>
            <a:ext cx="11978640" cy="27432"/>
          </a:xfrm>
          <a:prstGeom prst="rect">
            <a:avLst/>
          </a:prstGeom>
          <a:solidFill>
            <a:srgbClr val="24232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" y="5349240"/>
            <a:ext cx="11978640" cy="27432"/>
          </a:xfrm>
          <a:prstGeom prst="rect">
            <a:avLst/>
          </a:prstGeom>
          <a:solidFill>
            <a:srgbClr val="24232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"/>
            <a:ext cx="11247120" cy="621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1412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24000" dirty="0"/>
          </a:p>
        </p:txBody>
      </p:sp>
      <p:sp>
        <p:nvSpPr>
          <p:cNvPr id="12" name="Text 10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B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  ·  DEMOSTRACIÓN INTERACTIVA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11247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1000" kern="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VIVO</a:t>
            </a:r>
            <a:endParaRPr lang="en-US" sz="12000" dirty="0"/>
          </a:p>
        </p:txBody>
      </p:sp>
      <p:sp>
        <p:nvSpPr>
          <p:cNvPr id="14" name="Shape 12"/>
          <p:cNvSpPr/>
          <p:nvPr/>
        </p:nvSpPr>
        <p:spPr>
          <a:xfrm>
            <a:off x="2743200" y="4206240"/>
            <a:ext cx="6675120" cy="0"/>
          </a:xfrm>
          <a:prstGeom prst="line">
            <a:avLst/>
          </a:prstGeom>
          <a:noFill/>
          <a:ln w="25400">
            <a:solidFill>
              <a:srgbClr val="B8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434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DD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 Plus  ·  Sistema de Gestión de Tareas y Desempeño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60520" y="5074920"/>
            <a:ext cx="3840480" cy="749808"/>
          </a:xfrm>
          <a:prstGeom prst="rect">
            <a:avLst/>
          </a:prstGeom>
          <a:solidFill>
            <a:srgbClr val="B8943A"/>
          </a:solidFill>
          <a:ln/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50749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 Abrir aplicación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Perfum Plus — Presentación Comercial</dc:title>
  <dc:subject>PptxGenJS Presentation</dc:subject>
  <dc:creator>Kevin Eduardo Obando Santander</dc:creator>
  <cp:lastModifiedBy>Kevin Eduardo Obando Santander</cp:lastModifiedBy>
  <cp:revision>1</cp:revision>
  <dcterms:created xsi:type="dcterms:W3CDTF">2026-04-17T02:04:52Z</dcterms:created>
  <dcterms:modified xsi:type="dcterms:W3CDTF">2026-04-17T02:04:52Z</dcterms:modified>
</cp:coreProperties>
</file>